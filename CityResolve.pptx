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4"/>
  </p:notesMasterIdLst>
  <p:handoutMasterIdLst>
    <p:handoutMasterId r:id="rId15"/>
  </p:handoutMasterIdLst>
  <p:sldIdLst>
    <p:sldId id="277" r:id="rId4"/>
    <p:sldId id="399" r:id="rId5"/>
    <p:sldId id="400" r:id="rId6"/>
    <p:sldId id="408" r:id="rId20"/>
    <p:sldId id="409" r:id="rId21"/>
    <p:sldId id="401" r:id="rId7"/>
    <p:sldId id="402" r:id="rId8"/>
    <p:sldId id="403" r:id="rId9"/>
    <p:sldId id="410" r:id="rId22"/>
    <p:sldId id="404" r:id="rId10"/>
    <p:sldId id="411" r:id="rId23"/>
    <p:sldId id="412" r:id="rId24"/>
    <p:sldId id="413" r:id="rId25"/>
    <p:sldId id="405" r:id="rId11"/>
    <p:sldId id="406" r:id="rId12"/>
    <p:sldId id="40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 varScale="1">
        <p:scale>
          <a:sx n="85" d="100"/>
          <a:sy n="85" d="100"/>
        </p:scale>
        <p:origin x="816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2/4/2022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2/4/2022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?>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1" y="147602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 xml:space="preserve"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 xml:space="preserve"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 xml:space="preserve">COMPUTER SCIENCE AND ENGINEERING 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 xml:space="preserve"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 xml:space="preserve"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57138" y="443068"/>
            <a:ext cx="84770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600" b="1" dirty="0">
                <a:latin typeface="Arial Black" pitchFamily="34" charset="0"/>
              </a:rPr>
              <a:t>CityResolve</a:t>
            </a:r>
            <a:endParaRPr lang="en-US" sz="3600" dirty="0">
              <a:latin typeface="Raleway ExtraBold" pitchFamily="34" charset="-52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56200" y="4713444"/>
            <a:ext cx="2749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 xml:space="preserve">Submitted by: </a:t>
            </a:r>
          </a:p>
          <a:p>
            <a:r>
              <a:rPr lang="en-US" sz="2000" dirty="0"/>
              <a:t xml:space="preserve">NAME OF THE STUDENT </a:t>
            </a:r>
          </a:p>
          <a:p>
            <a:r>
              <a:rPr lang="en-US" sz="2000" dirty="0"/>
              <a:t xml:space="preserve">University Roll Number </a:t>
            </a:r>
          </a:p>
          <a:p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29090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 xml:space="preserve">Under the Supervision of: </a:t>
            </a:r>
            <a:endParaRPr lang="en-US" sz="2000" dirty="0"/>
          </a:p>
          <a:p>
            <a:r>
              <a:rPr lang="en-US" sz="2000" dirty="0"/>
              <a:t xml:space="preserve">SUPERVISORS NAME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Introduction to Project</a:t>
            </a:r>
          </a:p>
          <a:p>
            <a:r>
              <a:rPr lang="en-US" dirty="0">
                <a:latin typeface="Times New Roman"/>
                <a:cs typeface="Times New Roman"/>
              </a:rPr>
              <a:t>Problem Formulation</a:t>
            </a:r>
          </a:p>
          <a:p>
            <a:r>
              <a:rPr lang="en-US" dirty="0">
                <a:latin typeface="Times New Roman"/>
                <a:cs typeface="Times New Roman"/>
              </a:rPr>
              <a:t xml:space="preserve">Objectives of the work </a:t>
            </a:r>
          </a:p>
          <a:p>
            <a:r>
              <a:rPr lang="en-US" dirty="0">
                <a:latin typeface="Times New Roman"/>
                <a:cs typeface="Times New Roman"/>
              </a:rPr>
              <a:t>Methodology used</a:t>
            </a:r>
          </a:p>
          <a:p>
            <a:r>
              <a:rPr lang="en-US" spc="-10" dirty="0">
                <a:latin typeface="Times New Roman"/>
                <a:cs typeface="Times New Roman"/>
              </a:rPr>
              <a:t>Results and Outputs</a:t>
            </a:r>
          </a:p>
          <a:p>
            <a:r>
              <a:rPr lang="en-US" spc="-10" dirty="0">
                <a:latin typeface="Times New Roman"/>
                <a:cs typeface="Times New Roman"/>
              </a:rPr>
              <a:t>Conclusion</a:t>
            </a:r>
          </a:p>
          <a:p>
            <a:r>
              <a:rPr lang="en-US" dirty="0">
                <a:latin typeface="Times New Roman"/>
                <a:cs typeface="Times New Roman"/>
              </a:rPr>
              <a:t>Future Scope</a:t>
            </a:r>
          </a:p>
          <a:p>
            <a:r>
              <a:rPr lang="en-US" dirty="0">
                <a:latin typeface="Times New Roman"/>
                <a:cs typeface="Times New Roman"/>
              </a:rPr>
              <a:t>References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What is CityResolve?</a:t>
            </a:r>
          </a:p>
          <a:p>
            <a:r>
              <a:rPr lang="en-US" sz="1600" dirty="0"/>
              <a:t>CityResolve is a full-stack web application that enables citizens to report local civic issues such as garbage, potholes, water problems, and other infrastructure concerns to the relevant authorities.</a:t>
            </a:r>
          </a:p>
          <a:p>
            <a:r>
              <a:rPr lang="en-US" sz="1800" b="1" dirty="0"/>
              <a:t>Purpose</a:t>
            </a:r>
          </a:p>
          <a:p>
            <a:r>
              <a:rPr lang="en-US" sz="1600" dirty="0"/>
              <a:t>It bridges the gap between citizens and municipal authorities by providing a transparent, trackable complaint management system that ensures local issues are reported efficiently and resolved promptly.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sz="1600" dirty="0"/>
              <a:t>Citizens face daily challenges with civic infrastructure – broken roads, overflowing garbage, water supply failures – but lack a structured channel to report them.</a:t>
            </a:r>
          </a:p>
          <a:p>
            <a:r>
              <a:rPr lang="en-US" sz="1600" dirty="0"/>
              <a:t>Existing complaint mechanisms are largely manual, fragmented, and non-transparent, leading to delayed resolution, lost complaints, and citizen frustration.</a:t>
            </a:r>
          </a:p>
          <a:p>
            <a:r>
              <a:rPr lang="en-US" sz="1600" dirty="0"/>
              <a:t>Authorities lack a centralized dashboard to track, prioritize, and resolve complaints efficiently.</a:t>
            </a:r>
          </a:p>
          <a:p>
            <a:r>
              <a:rPr lang="en-US" sz="1600" b="1" dirty="0"/>
              <a:t>CityResolve addresses this gap with a digital, secure, and transparent complaint management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 xml:space="preserve">Objectives </a:t>
            </a:r>
            <a:r>
              <a:rPr lang="en-US"/>
              <a:t>of the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sz="1600" dirty="0"/>
              <a:t>1. Allow citizens to register, login, and securely submit civic complaints online</a:t>
            </a:r>
          </a:p>
          <a:p>
            <a:r>
              <a:rPr lang="en-US" sz="1600" dirty="0"/>
              <a:t>2. Enable complaint tracking with real-time status updates (Pending / In Progress / Resolved)</a:t>
            </a:r>
          </a:p>
          <a:p>
            <a:r>
              <a:rPr lang="en-US" sz="1600" dirty="0"/>
              <a:t>3. Provide authorities with a centralized dashboard to view and manage all complaints</a:t>
            </a:r>
          </a:p>
          <a:p>
            <a:r>
              <a:rPr lang="en-US" sz="1600" dirty="0"/>
              <a:t>4. Secure all API endpoints using JWT-based authentication middleware</a:t>
            </a:r>
          </a:p>
          <a:p>
            <a:r>
              <a:rPr lang="en-US" sz="1600" dirty="0"/>
              <a:t>5. Deploy a scalable, production-ready full-stack application on Render</a:t>
            </a:r>
          </a:p>
          <a:p>
            <a:r>
              <a:rPr lang="en-US" sz="1600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–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Architecture Overview</a:t>
            </a:r>
          </a:p>
          <a:p>
            <a:r>
              <a:rPr lang="en-US" sz="1600" dirty="0"/>
              <a:t>The system follows a 3-tier architecture: Frontend (React.js) communicates with the Backend (Node.js/Express.js) via REST APIs. The backend connects to MongoDB for data storage.</a:t>
            </a:r>
          </a:p>
          <a:p>
            <a:r>
              <a:rPr lang="en-US" sz="1800" b="1" dirty="0"/>
              <a:t>Project Structure</a:t>
            </a:r>
          </a:p>
          <a:p>
            <a:r>
              <a:rPr lang="en-US" sz="1600" dirty="0"/>
              <a:t>CITYRESOLVE/ frontend/ (React app: public, src) | backend/ (config, controllers, models, routes, middleware, utils, server.js)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User Registration and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User Registration (POST /api/auth/register)</a:t>
            </a:r>
          </a:p>
          <a:p>
            <a:r>
              <a:rPr lang="en-US" sz="1600" dirty="0"/>
              <a:t>New users provide their name, email, and password. Upon successful registration, credentials are stored securely in MongoDB with encrypted passwords.</a:t>
            </a:r>
          </a:p>
          <a:p>
            <a:r>
              <a:rPr lang="en-US" sz="1800" b="1" dirty="0"/>
              <a:t>User Login (POST /api/auth/login)</a:t>
            </a:r>
          </a:p>
          <a:p>
            <a:r>
              <a:rPr lang="en-US" sz="1600" dirty="0"/>
              <a:t>Registered users can log in with email and password. The system validates credentials and returns a JWT token used for all subsequent authenticated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CityResolve successfully demonstrates a full-stack MERN application that digitizes civic complaint management, improving transparency between citizens and authorities.</a:t>
            </a:r>
          </a:p>
          <a:p>
            <a:r>
              <a:rPr lang="en-US" sz="1800" b="1" dirty="0"/>
              <a:t>Highlights</a:t>
            </a:r>
          </a:p>
          <a:p>
            <a:r>
              <a:rPr lang="en-US" sz="1600" dirty="0"/>
              <a:t>Secure JWT authentication, real-time complaint tracking, RESTful API design, and cloud deployment on Render</a:t>
            </a:r>
          </a:p>
          <a:p>
            <a:r>
              <a:rPr lang="en-US" sz="1800" b="1" dirty="0"/>
              <a:t>Limitations</a:t>
            </a:r>
          </a:p>
          <a:p>
            <a:r>
              <a:rPr lang="en-US" sz="1600" dirty="0"/>
              <a:t>No real-time notifications, no image/file uploads for complaints, and role-based access could be more granular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65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1. Real-time push notifications (SMS / email / app) when complaint status changes</a:t>
            </a:r>
          </a:p>
          <a:p>
            <a:r>
              <a:rPr lang="en-US" sz="1600" dirty="0"/>
              <a:t>2. Image and document upload support for complaints to provide visual evidence</a:t>
            </a:r>
          </a:p>
          <a:p>
            <a:r>
              <a:rPr lang="en-US" sz="1600" dirty="0"/>
              <a:t>3. AI-powered complaint categorization and priority scoring using NLP</a:t>
            </a:r>
          </a:p>
          <a:p>
            <a:r>
              <a:rPr lang="en-US" sz="1600" dirty="0"/>
              <a:t>4. Geographic mapping of complaints using GIS / Maps API for spatial awareness</a:t>
            </a:r>
          </a:p>
          <a:p>
            <a:r>
              <a:rPr lang="en-US" sz="1600" dirty="0"/>
              <a:t>5. Mobile application (React Native / Flutter) for wider citizen accessibility</a:t>
            </a:r>
          </a:p>
          <a:p>
            <a:r>
              <a:rPr lang="en-US" sz="1600" dirty="0"/>
              <a:t>6. Analytics dashboard showing complaint trends, resolution times, and hotspot areas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28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Times New Roman"/>
              </a:rPr>
              <a:t>1. MongoDB Documentation – https://www.mongodb.com/docs</a:t>
            </a:r>
          </a:p>
          <a:p>
            <a:r>
              <a:rPr lang="en-US" sz="1600" dirty="0">
                <a:latin typeface="Times New Roman"/>
              </a:rPr>
              <a:t>2. Express.js Documentation – https://expressjs.com</a:t>
            </a:r>
          </a:p>
          <a:p>
            <a:r>
              <a:rPr lang="en-US" sz="1600" dirty="0">
                <a:latin typeface="Times New Roman"/>
              </a:rPr>
              <a:t>3. React.js Official Docs – https://react.dev</a:t>
            </a:r>
          </a:p>
          <a:p>
            <a:r>
              <a:rPr lang="en-US" sz="1600" dirty="0">
                <a:latin typeface="Times New Roman"/>
              </a:rPr>
              <a:t>4. Node.js Documentation – https://nodejs.org/en/docs</a:t>
            </a:r>
          </a:p>
          <a:p>
            <a:r>
              <a:rPr lang="en-US" sz="1600" dirty="0">
                <a:latin typeface="Times New Roman"/>
              </a:rPr>
              <a:t>5. JSON Web Tokens – https://jwt.io/introduction</a:t>
            </a:r>
          </a:p>
          <a:p>
            <a:r>
              <a:rPr lang="en-US" sz="1600" dirty="0">
                <a:latin typeface="Times New Roman"/>
              </a:rPr>
              <a:t>6. Tailwind CSS – https://tailwindcss.com/docs</a:t>
            </a:r>
          </a:p>
          <a:p>
            <a:r>
              <a:rPr lang="en-US" sz="1600" dirty="0">
                <a:latin typeface="Times New Roman"/>
              </a:rPr>
              <a:t>7. Render Deployment Platform – https://render.com/docs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–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User Features</a:t>
            </a:r>
          </a:p>
          <a:p>
            <a:r>
              <a:rPr lang="en-US" sz="1600" dirty="0"/>
              <a:t>User registration and login with JWT authentication</a:t>
            </a:r>
          </a:p>
          <a:p>
            <a:r>
              <a:rPr lang="en-US" sz="1600" dirty="0"/>
              <a:t>Submit, view, and track complaint status in real time</a:t>
            </a:r>
          </a:p>
          <a:p>
            <a:r>
              <a:rPr lang="en-US" sz="1800" b="1" dirty="0"/>
              <a:t>System / Authority Features</a:t>
            </a:r>
          </a:p>
          <a:p>
            <a:r>
              <a:rPr lang="en-US" sz="1600" dirty="0"/>
              <a:t>Authorities can update complaint status (Pending to Resolved)</a:t>
            </a:r>
          </a:p>
          <a:p>
            <a:r>
              <a:rPr lang="en-US" sz="1600" dirty="0"/>
              <a:t>View all complaints and access secure backend APIs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–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Frontend</a:t>
            </a:r>
          </a:p>
          <a:p>
            <a:r>
              <a:rPr lang="en-US" sz="1600" dirty="0"/>
              <a:t>React.js  |  Tailwind CSS  |  Axios</a:t>
            </a:r>
          </a:p>
          <a:p>
            <a:r>
              <a:rPr lang="en-US" sz="1800" b="1" dirty="0"/>
              <a:t>Backend</a:t>
            </a:r>
          </a:p>
          <a:p>
            <a:r>
              <a:rPr lang="en-US" sz="1600" dirty="0"/>
              <a:t>Node.js  |  Express.js  |  MongoDB (Mongoose)</a:t>
            </a:r>
          </a:p>
          <a:p>
            <a:r>
              <a:rPr lang="en-US" sz="1800" b="1" dirty="0"/>
              <a:t>Deployment</a:t>
            </a:r>
          </a:p>
          <a:p>
            <a:r>
              <a:rPr lang="en-US" sz="1600" dirty="0"/>
              <a:t>Frontend and Backend both hosted on Render (cloud platform)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– Development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User Workflow</a:t>
            </a:r>
          </a:p>
          <a:p>
            <a:r>
              <a:rPr lang="en-US" sz="1600" dirty="0"/>
              <a:t>1. User registers / logs in  2. JWT token issued  3. User submits complaint  4. Complaint stored in MongoDB  5. Authority reviews and updates status  6. User tracks resolution</a:t>
            </a:r>
          </a:p>
          <a:p>
            <a:r>
              <a:rPr lang="en-US" sz="1800" b="1" dirty="0"/>
              <a:t>Setup Steps</a:t>
            </a:r>
          </a:p>
          <a:p>
            <a:r>
              <a:rPr lang="en-US" sz="1600" dirty="0"/>
              <a:t>Clone repo  Backend: npm install, set .env (MONGO_URI, JWT_SECRET), run node server.js  Frontend: npm install, npm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Complaint Submission and Viewing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Submit Complaint (POST /api/complaints)</a:t>
            </a:r>
          </a:p>
          <a:p>
            <a:r>
              <a:rPr lang="en-US" sz="1600" dirty="0"/>
              <a:t>Authenticated users can submit new complaints with a title, description, and complaint type (garbage, potholes, water issue, etc.). Data is persisted in MongoDB.</a:t>
            </a:r>
          </a:p>
          <a:p>
            <a:r>
              <a:rPr lang="en-US" sz="1800" b="1" dirty="0"/>
              <a:t>View Complaints (GET /api/complaints)</a:t>
            </a:r>
          </a:p>
          <a:p>
            <a:r>
              <a:rPr lang="en-US" sz="1600" dirty="0"/>
              <a:t>Users and authorities can retrieve all complaints. The response includes complaint details, current status, submission date, and the submitting user's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Admin Status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Update Complaint Status (PUT /api/complaints/:id)</a:t>
            </a:r>
          </a:p>
          <a:p>
            <a:r>
              <a:rPr lang="en-US" sz="1600" dirty="0"/>
              <a:t>Authorized personnel can update the status of any complaint by its ID. Statuses transition from Pending to In Progress and finally to Resolved.</a:t>
            </a:r>
          </a:p>
          <a:p>
            <a:r>
              <a:rPr lang="en-US" sz="1800" b="1" dirty="0"/>
              <a:t>Secure Middleware Layer</a:t>
            </a:r>
          </a:p>
          <a:p>
            <a:r>
              <a:rPr lang="en-US" sz="1600" dirty="0"/>
              <a:t>All protected routes are guarded by JWT verification middleware. Unauthorized requests receive a 401 Unauthorized error, ensuring only valid users can interact with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Authentication Endpoints</a:t>
            </a:r>
          </a:p>
          <a:p>
            <a:r>
              <a:rPr lang="en-US" sz="1600" dirty="0"/>
              <a:t>POST /api/auth/register – Register a new user</a:t>
            </a:r>
          </a:p>
          <a:p>
            <a:r>
              <a:rPr lang="en-US" sz="1600" dirty="0"/>
              <a:t>POST /api/auth/login – Login and receive a JWT token</a:t>
            </a:r>
          </a:p>
          <a:p>
            <a:r>
              <a:rPr lang="en-US" sz="1800" b="1" dirty="0"/>
              <a:t>Complaint Endpoints</a:t>
            </a:r>
          </a:p>
          <a:p>
            <a:r>
              <a:rPr lang="en-US" sz="1600" dirty="0"/>
              <a:t>POST /api/complaints – Create a new complaint (authenticated)</a:t>
            </a:r>
          </a:p>
          <a:p>
            <a:r>
              <a:rPr lang="en-US" sz="1600" dirty="0"/>
              <a:t>GET /api/complaints – Retrieve all complaints</a:t>
            </a:r>
          </a:p>
          <a:p>
            <a:r>
              <a:rPr lang="en-US" sz="1600" dirty="0"/>
              <a:t>PUT /api/complaints/:id – Update complaint status by 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6120</TotalTime>
  <Words>213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Casper</vt:lpstr>
      <vt:lpstr>Raleway ExtraBold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 to Project</vt:lpstr>
      <vt:lpstr>Problem Formulation</vt:lpstr>
      <vt:lpstr>Objectives of the Work</vt:lpstr>
      <vt:lpstr>Methodology used</vt:lpstr>
      <vt:lpstr>Results and Outputs</vt:lpstr>
      <vt:lpstr>Conclusion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Rajdavinder Singh Boparai</cp:lastModifiedBy>
  <cp:revision>492</cp:revision>
  <dcterms:created xsi:type="dcterms:W3CDTF">2019-01-09T10:33:58Z</dcterms:created>
  <dcterms:modified xsi:type="dcterms:W3CDTF">2022-02-04T04:58:22Z</dcterms:modified>
</cp:coreProperties>
</file>